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BLUESTOCK MUTUAL FUND ANALYTICS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Comprehensive Industry Capstone Report &amp; Performance Dashboard</a:t>
            </a:r>
          </a:p>
          <a:p>
            <a:pPr>
              <a:spcBef>
                <a:spcPts val="2400"/>
              </a:spcBef>
              <a:defRPr sz="1300">
                <a:solidFill>
                  <a:srgbClr val="00C9A7"/>
                </a:solidFill>
              </a:defRPr>
            </a:pPr>
            <a:r>
              <a:t>ETL Pipeline • Quantitative Risk Modeling • Power BI Visual Analytics • Investor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PROBLEM STATEMENT &amp; OBJECTIVES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Aligning Quantitative Analytics with Retail Investor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Business Problem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Rapid retail mutual fund adoption requires automated data pipelines.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Lack of unified performance &amp; risk scorecards across AMCs.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High investor churn and gap between SIP registration and fulfillment.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Need for data-driven risk management (Sharpe, Sortino, VaR/CVaR).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Strategic Objectives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Build automated SQLite ETL pipeline importing 10 raw datasets.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Compute 1yr/3yr/5yr CAGR, Sharpe, Sortino, Alpha, Beta, &amp; Max Drawdown.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Construct 0-100 Composite Fund Scorecard across 40 schemes.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Design 4-page interactive Power BI dashboard &amp; risk recommender.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DATA SOURCES &amp; AMFI DATASET OVERVIEW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Comprehensive Financial &amp; Demographic Data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Fund Metadata &amp; NAV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40 AMFI Scheme Master (`dim_fund`).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46,000 daily NAV observations (2022–2026).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Expense ratios &amp; benchmark mappings.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Industry Metrics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Industry AUM history by AMC (`fact_aum`).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Monthly SIP inflows (`fact_monthly_sip`).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Category net inflows &amp; Folio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Investor &amp; Holdings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32,778 anonymized investor transactions.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Demographic state &amp; city tier splits.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322 stock-level portfolio holdings.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ETL ARCHITECTURE &amp; DATA PIPELINE DESIGN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Star-Schema Warehouse &amp; Automated Data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1. Ingestion Layer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Automated extraction from CSV sources.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Live NAV API fetch integration.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Data type standardization &amp;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2. Quality &amp; Clean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Forward-filling non-trading NAV gaps.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Expense ratio validation (0.1%-2.5%).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Positive transaction value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3. Star-Schema Storage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`bluestock_mf.db` SQLite database.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Foreign key constraints on amfi_code &amp; date.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Optimized indexes for fast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EDA HIGHLIGHTS: AUM &amp; SIP GROWTH TRAJECTORY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Surging Retail Inflows &amp; Industry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Industry AUM Expansion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Total Industry AUM reached ₹81 Lakh Crore by 2026.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SBI MF, ICICI Prudential, and HDFC MF lead AUM share.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Consistent positive quarterly compounding despite market swings.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Monthly SIP Record Inflows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Monthly SIP inflows scaled from ₹11,500 Cr to &gt;₹31,000 Cr.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YoY SIP growth exceeds 35% annually.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Active SIP accounts expanded to over 7.2 Crore.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EDA HIGHLIGHTS: INVESTOR DEMOGRAPHICS &amp; FOLIOS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Geographic &amp; Generational Asset Allocations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Folio Expansion Trends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Total industry folios surpassed 26.12 Crore.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Equity category accounts for &gt;70% of total folios.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Passive ETF and Index folios expanded at 45% CAGR.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Investor Demographic Insights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Top investment states: Maharashtra, Karnataka, Gujarat.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Age group 25–44 accounts for 62% of all SIP transactions.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Tier-2 &amp; Tier-3 cities contribute 41% of new SIP registrations.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PERFORMANCE &amp; FUND SCORECARD MODEL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Multi-Factor Composite Ranking Engine (0–100)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Scorecard Weighting Formula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30% × 3-Year CAGR Return Rank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25% × Sharpe Ratio Rank (Rf = 6.5%)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20% × Alpha Rank (OLS vs Nifty 100)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15% × Expense Ratio Rank (Inverse / Lower is better)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10% × Max Drawdown Rank (Inverse / Smaller loss is better)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Top 5 Scorecard Leaders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#1 Mirae Asset Large Cap Fund — Score: 85.1 (3yr CAGR 18.1%, Sharpe 0.94)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#2 ICICI Pru Midcap Fund — Score: 83.1 (3yr CAGR 22.9%, Sharpe 1.09)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#3 Kotak Flexicap Fund — Score: 80.7 (3yr CAGR 19.4%, Sharpe 0.97)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#4 HDFC Mid-Cap Opportunities — Score: 80.1 (3yr CAGR 21.8%, Sharpe 1.04)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#5 ICICI Pru Bluechip Fund — Score: 77.7 (3yr CAGR 17.5%, Sharpe 0.89)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OLS REGRESSION &amp; TAIL RISK (VAR / CVAR)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Systematic Risk (Beta), Excess Return (Alpha), &amp; Tail Downside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OLS Regression vs NIFTY 100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Single-index market model using scipy.stats.linregress.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Beta values range from 0.22 (Gilt funds) to 1.04 (Small Cap).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Top Alpha generators: ICICI Midcap (2.14%) &amp; Kotak Flexicap (2.15%).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Results exported to `alpha_beta.csv`.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Historical VaR (95%) &amp; CVaR (95%)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VaR 95% measures 5th percentile worst daily return.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CVaR (Expected Shortfall) measures average loss below VaR.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Small Cap schemes display highest VaR (-2.61%) and CVaR (-3.25%).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Results exported to `var_cvar_report.csv`.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POWER BI DASHBOARD: INDUSTRY &amp; PERFORMANCE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Interactive Executive Visual Reports (Pages 1 &amp; 2)</a:t>
            </a:r>
          </a:p>
        </p:txBody>
      </p:sp>
      <p:pic>
        <p:nvPicPr>
          <p:cNvPr id="4" name="Picture 3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754880"/>
          </a:xfrm>
          <a:prstGeom prst="rect">
            <a:avLst/>
          </a:prstGeom>
        </p:spPr>
      </p:pic>
      <p:pic>
        <p:nvPicPr>
          <p:cNvPr id="5" name="Picture 4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POWER BI DASHBOARD: INVESTOR &amp; MARKET TRENDS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Demographic Insights &amp; Dual-Axis SIP Correlation (Pages 3 &amp; 4)</a:t>
            </a:r>
          </a:p>
        </p:txBody>
      </p:sp>
      <p:pic>
        <p:nvPicPr>
          <p:cNvPr id="4" name="Picture 3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754880"/>
          </a:xfrm>
          <a:prstGeom prst="rect">
            <a:avLst/>
          </a:prstGeom>
        </p:spPr>
      </p:pic>
      <p:pic>
        <p:nvPicPr>
          <p:cNvPr id="5" name="Picture 4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A73E8"/>
                </a:solidFill>
              </a:defRPr>
            </a:pPr>
            <a:r>
              <a:t>BLUESTOCK ANALYTICS  |  STRATEGIC RECOMMENDATIONS &amp; INSIGHTS</a:t>
            </a:r>
          </a:p>
          <a:p>
            <a:pPr>
              <a:defRPr sz="1200">
                <a:solidFill>
                  <a:srgbClr val="8892B0"/>
                </a:solidFill>
              </a:defRPr>
            </a:pPr>
            <a:r>
              <a:t>Actionable Directives for AMCs &amp; Wealth Managers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</a:defRPr>
            </a:pPr>
            <a:r>
              <a:t>Product &amp; Retention Directives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Address SIP Gap Latency: 97.8% of 6+ SIP investors show &gt;35 day gaps.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Promote Flexi-Cap &amp; Mid-Cap Funds: Highest Sharpe ratio risk efficiency.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Lower Expense Ratios on Direct Plans to boost scorecard competitiveness.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A7"/>
                </a:solidFill>
              </a:defRPr>
            </a:pPr>
            <a:r>
              <a:t>Marketing &amp; Risk Management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Expand Tier-2 &amp; Tier-3 SIP Outreach (41% growth driver).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Incorporate VaR/CVaR Tail Risk Warnings on Small Cap offerings.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Deploy Automated Risk Recommender CLI (`recommender.py`).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73E8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Bluestock Mutual Fund Analytics Capstone Project</a:t>
            </a:r>
          </a:p>
          <a:p>
            <a:pPr algn="ctr">
              <a:spcBef>
                <a:spcPts val="2400"/>
              </a:spcBef>
              <a:defRPr sz="1200">
                <a:solidFill>
                  <a:srgbClr val="00C9A7"/>
                </a:solidFill>
              </a:defRPr>
            </a:pPr>
            <a:r>
              <a:t>Deliverables: Final_Report.pdf | Bluestock_MF_Presentation.pptx | Performance_Analytics.ipynb | Advanced_Analytics.ipynb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